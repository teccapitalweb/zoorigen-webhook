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Esta presentación explica principios generales y no menciona productos, concentraciones ni tratamientos. Los detalles técnicos de tu instalación los define tu médico veterinario responsable.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Recorremos seis temas. Pídele al grupo que piense en su propia instalación mientras avanza: al final hay un ejercicio para revisarla.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 en que la bioseguridad es un conjunto de hábitos, no un objeto. Una instalación pequeña puede tener un programa sencillo, pero debe tenerlo escrito y practicarlo.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cinco elementos son una forma de organizar el programa; no son una lista oficial. Úsalos como índice para revisar tu instalación.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Pregunta: ¿quién puede entrar hoy a tus áreas de animales y cómo lo sabes? Si no hay un registro, ese es el primer paso.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 el plano de tu instalación y marca con flechas el recorrido diario del personal: de lo más limpio a lo de mayor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mensaje clave: si no se limpia bien, la desinfección pierde efecto. No se dan productos ni diluciones a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mezclar productos de limpieza es una regla de seguridad general: algunos pueden reaccionar entre sí. Cada instalación define sus productos con su responsable sanitario.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duración y los criterios de salida de la cuarentena los define el médico veterinario responsable según la especie y el caso. Aquí solo hablamos de organización.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 detallan clasificaciones ni disposiciones: son temas normativos que dependen de cada caso. Remite a la norma vigente.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prevención es más barata y segura que el control. El control en sí lo debe orientar una persona con la capacitación necesaria.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 el vínculo con salud ocupacional: el cuidado de las personas es parte de la bioseguridad.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registro sencillo, llenado todos los días, vale más que uno perfecto que nadie usa. Puedes apoyarte en las hojas de Excel del Club.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auditoría interna no busca culpables: busca mejorar. Usa la lista de verificación de bioseguridad del Club como punto de 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cinco minutos para responder en parejas. Pide que cada persona comparta la mejora que elegirá.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Comparte las fuentes y recuerda que las normas pueden cambiar: consulta siempre la versión vigente.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pic>
        <p:nvPicPr>
          <p:cNvPr id="4" name="Image 0" descr="C:\TECCAPITAL\zoorigen-webhook\tools\materiales\generador-office\recursos\logo-zoori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21792"/>
            <a:ext cx="2066544" cy="10607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514600"/>
            <a:ext cx="1097280" cy="6400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Sanidad y manejo de fauna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Bioseguridad y limpieza en recintos de fauna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50292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generales para unidades de manejo, zoológicos y centros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7D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original de Zoorigen · Versión 1.0 · 22 de octubre de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2F7A4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1280" y="0"/>
            <a:ext cx="91440" cy="6858000"/>
          </a:xfrm>
          <a:prstGeom prst="rect">
            <a:avLst/>
          </a:prstGeom>
          <a:solidFill>
            <a:srgbClr val="E8A31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veremos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17465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la bioseguridad y qué la forma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6151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 personas y flujo de trabajo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4838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primero, desinfectar después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17465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Cuarentena, residuos y plagas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265176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95160" y="26151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y registros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17920" y="352044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95160" y="34838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evaluar tu programa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es la bioseguridad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para reducir el riesgo de que entren, se transmitan o se propaguen enfermedades o plagas.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57048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552192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 los animales, a las personas que los atienden y a los visitantes.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431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31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412744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producto ni un tapete: es un programa con responsables, reglas y registros.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29158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91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27329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adapta al tamaño y al riesgo de cada instalación.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adaptada de la Ley Federal de Sanidad Animal (art. 4, medidas de bioseguridad).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elementos de un programa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1956816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entra, por dónde y con qué reglas.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71216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1216" y="1783080"/>
            <a:ext cx="1956816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14" name="Text 12"/>
          <p:cNvSpPr/>
          <p:nvPr/>
        </p:nvSpPr>
        <p:spPr>
          <a:xfrm>
            <a:off x="3099816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099816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trabajo entre áreas.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02352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02352" y="1783080"/>
            <a:ext cx="1956816" cy="1097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8" name="Text 16"/>
          <p:cNvSpPr/>
          <p:nvPr/>
        </p:nvSpPr>
        <p:spPr>
          <a:xfrm>
            <a:off x="5330952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330952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y, si procede, desinfectar.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33488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33488" y="1783080"/>
            <a:ext cx="1956816" cy="109728"/>
          </a:xfrm>
          <a:prstGeom prst="rect">
            <a:avLst/>
          </a:prstGeom>
          <a:solidFill>
            <a:srgbClr val="1F5F8F"/>
          </a:solidFill>
          <a:ln/>
        </p:spPr>
      </p:sp>
      <p:sp>
        <p:nvSpPr>
          <p:cNvPr id="22" name="Text 20"/>
          <p:cNvSpPr/>
          <p:nvPr/>
        </p:nvSpPr>
        <p:spPr>
          <a:xfrm>
            <a:off x="7562088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Cuarentena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562088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y observar a quien llega.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64624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64624" y="1783080"/>
            <a:ext cx="1956816" cy="109728"/>
          </a:xfrm>
          <a:prstGeom prst="rect">
            <a:avLst/>
          </a:prstGeom>
          <a:solidFill>
            <a:srgbClr val="2F7A4F"/>
          </a:solidFill>
          <a:ln/>
        </p:spPr>
      </p:sp>
      <p:sp>
        <p:nvSpPr>
          <p:cNvPr id="26" name="Text 24"/>
          <p:cNvSpPr/>
          <p:nvPr/>
        </p:nvSpPr>
        <p:spPr>
          <a:xfrm>
            <a:off x="9793224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y plagas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793224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ordenado y prevención.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de acceso de personas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quién entra, cuándo y para qué.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áreas restringidas y señalízalas.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Calzado y ropa de uso exclusivo en las áreas de animales.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Lavado de manos al entrar y al salir.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32511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visitas, siempre acompañadas y sin tocar a los animales.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de trabajo entre áreas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sugerido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5257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24328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514600"/>
            <a:ext cx="4663440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las áreas de menor riesgo (animales sanos, crías).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250184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140456"/>
            <a:ext cx="4663440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final, animales en observación o cuarentena.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876040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7663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propias de cada área.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388104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278376"/>
            <a:ext cx="4663440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Lavar manos y cambiar calzado al pasar de un área a otra.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17830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C75402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63640" y="2377440"/>
            <a:ext cx="5257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624328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514600"/>
            <a:ext cx="4663440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herramientas entre áreas sin limpiarlas.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3250184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140456"/>
            <a:ext cx="4663440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de cuarentena a áreas sanas sin cambiar nada.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6520" y="3876040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7663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que tocan a los animales.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8104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2783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que no se llenan.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" y="548640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548640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" y="555955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práctica general redactada por Zoorigen: no se atribuye a una norma específica.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Limpiar primero, desinfectar después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Restos y materia orgánica visible.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81072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14" name="Text 12"/>
          <p:cNvSpPr/>
          <p:nvPr/>
        </p:nvSpPr>
        <p:spPr>
          <a:xfrm>
            <a:off x="2590800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029712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81072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0800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agua y detergente, tallando las superficies.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22064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19" name="Text 17"/>
          <p:cNvSpPr/>
          <p:nvPr/>
        </p:nvSpPr>
        <p:spPr>
          <a:xfrm>
            <a:off x="4431792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70704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Enjuagar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2064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1792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quitar los residuos del detergente.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63056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11696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Desinfectar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63056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procede, con el producto y las indicaciones que defina tu responsable sanitario.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4048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29" name="Text 27"/>
          <p:cNvSpPr/>
          <p:nvPr/>
        </p:nvSpPr>
        <p:spPr>
          <a:xfrm>
            <a:off x="8113776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552688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04048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3776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ventilar el área antes de reincorporar animales.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845040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34" name="Text 32"/>
          <p:cNvSpPr/>
          <p:nvPr/>
        </p:nvSpPr>
        <p:spPr>
          <a:xfrm>
            <a:off x="9954768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393680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845040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54768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Fecha, recinto y responsable.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5120640"/>
            <a:ext cx="10881360" cy="752094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" y="5120640"/>
            <a:ext cx="73152" cy="75209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0" name="Text 38"/>
          <p:cNvSpPr/>
          <p:nvPr/>
        </p:nvSpPr>
        <p:spPr>
          <a:xfrm>
            <a:off x="896112" y="5193792"/>
            <a:ext cx="1042416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desinfección se aplica después de una limpieza a fondo. Productos, concentraciones y tiempos: los define tu responsable sanitario y la etiqueta del fabricante; esta presentación no los indica.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Principios para limpiar recintos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de lo más limpio a lo más sucio.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utensilios separados para comida, agua y desechos.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Prefiere superficies y materiales fáciles de limpiar.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mezcles productos de limpieza entre sí.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32511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 el área y usa el equipo de protección que corresponda.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Cuarentena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Cuarentena y recepción de animales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5303520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área distinta del resto, con equipo propio.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783080"/>
            <a:ext cx="5303520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por personal capacitado y con apoyo veterinario.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657600"/>
            <a:ext cx="5303520" cy="1097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136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observa, cuándo y quién.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657600"/>
            <a:ext cx="5303520" cy="109728"/>
          </a:xfrm>
          <a:prstGeom prst="rect">
            <a:avLst/>
          </a:prstGeom>
          <a:solidFill>
            <a:srgbClr val="1F5F8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9136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46520" y="4480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con criterio profesional cuándo se integra al grupo.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10881360" cy="752094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5486400"/>
            <a:ext cx="73152" cy="75209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5559552"/>
            <a:ext cx="1042416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General de Vida Silvestre (art. 33) señala que, cuando proceda la cuarentena, se mantengan los ejemplares en condiciones adecuadas a sus necesidades.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Manejo ordenado de residuos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los residuos por tipo y usa contenedores identificados y cerrados.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57048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55219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 con prontitud restos de alimento y desechos.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22884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2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21056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residuos biológico-infecciosos de atención veterinaria se rigen por la NOM-087-SEMARNAT-SSA1-2002.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089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89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07111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dónde se almacenan temporalmente y quién los retira.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la versión vigente de la norma y los servicios autorizados de tu localidad.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Prevención de plagas y fauna nociva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alimento en recipientes cerrados y fuera del piso.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Sella ranuras y revisa bordes, techos y bodegas.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se acumulen agua y restos de comida.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con regularidad y anota lo que encuentres.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32511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asesoría para el control: no improvises productos.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Personal: hábitos que protegen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al ingresar y de forma periódica.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Ropa y calzado de trabajo exclusivos y limpios.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tenga síntomas de enfermedad lo avisa antes de entrar a las áreas.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protección según la tarea, bien ajustado y limpio.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32511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Heridas cubiertas y manos lavadas antes de comer o beber.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enfermedades pasan de los animales a las personas (zoonosis) y también al revés.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registrar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21208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anota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 lo llena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Visitas y accesos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Fecha, nombre, motivo y áreas visitadas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Vigilancia o recepción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Limpieza de recintos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Fecha, recinto y responsable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Cuidador del área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Cuarentena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Ingreso, observaciones y salida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sanitario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pasó, cuándo y qué se hizo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Quien lo detecta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y fecha de retiro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Encargado de residuos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evaluar tu programa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2044598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1404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2044598" cy="21031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88920"/>
            <a:ext cx="182514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lista de verificación y sin avisar al área.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49270" y="1828800"/>
            <a:ext cx="2044598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14" name="Text 12"/>
          <p:cNvSpPr/>
          <p:nvPr/>
        </p:nvSpPr>
        <p:spPr>
          <a:xfrm>
            <a:off x="2958998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97910" y="1828800"/>
            <a:ext cx="1404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849270" y="2697480"/>
            <a:ext cx="2044598" cy="21031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58998" y="2788920"/>
            <a:ext cx="182514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los registros estén completos y al día.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58461" y="1828800"/>
            <a:ext cx="2044598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19" name="Text 17"/>
          <p:cNvSpPr/>
          <p:nvPr/>
        </p:nvSpPr>
        <p:spPr>
          <a:xfrm>
            <a:off x="5168189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607101" y="1828800"/>
            <a:ext cx="1404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58461" y="2697480"/>
            <a:ext cx="2044598" cy="21031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8189" y="2788920"/>
            <a:ext cx="182514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personal: ¿qué es difícil de cumplir?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67651" y="1828800"/>
            <a:ext cx="2044598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24" name="Text 22"/>
          <p:cNvSpPr/>
          <p:nvPr/>
        </p:nvSpPr>
        <p:spPr>
          <a:xfrm>
            <a:off x="7377379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816291" y="1828800"/>
            <a:ext cx="1404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267651" y="2697480"/>
            <a:ext cx="2044598" cy="21031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7379" y="2788920"/>
            <a:ext cx="182514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Hallazgos, responsables y fecha para corregir.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476842" y="1828800"/>
            <a:ext cx="2044598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29" name="Text 27"/>
          <p:cNvSpPr/>
          <p:nvPr/>
        </p:nvSpPr>
        <p:spPr>
          <a:xfrm>
            <a:off x="9586570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025482" y="1828800"/>
            <a:ext cx="1404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476842" y="2697480"/>
            <a:ext cx="2044598" cy="21031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86570" y="2788920"/>
            <a:ext cx="182514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periodicidad que tú fijes (al menos una vez al año).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0080" y="5120640"/>
            <a:ext cx="10881360" cy="752094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5120640"/>
            <a:ext cx="73152" cy="75209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5" name="Text 33"/>
          <p:cNvSpPr/>
          <p:nvPr/>
        </p:nvSpPr>
        <p:spPr>
          <a:xfrm>
            <a:off x="896112" y="5193792"/>
            <a:ext cx="1042416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Renovar el programa al menos una vez al año es una buena práctica general sugerida por Zoorigen, no un requisito de una norma específica.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Revisa tu instalación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¿Tienes un registro de visitas y accesos?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 definido el orden de trabajo entre áreas?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limpia siempre antes de desinfectar?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se separa a un animal recién llegado?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32511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revisa que se cumpla y cada cuándo?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tus respuestas y elige UNA mejora para esta semana.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Sanidad y manejo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seguir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Fuentes y aviso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consultadas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Federal de Sanidad Animal, Cámara de Diputados (texto vigente): diputados.gob.mx/LeyesBiblio (art. 4 y art. 21)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60904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946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General de Vida Silvestre, Cámara de Diputados (texto vigente): diputados.gob.mx/LeyesBiblio (art. 33)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9008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Mexicano de Normas (Secretaría de Economía): NOM-087-SEMARNAT-SSA1-2002, residuos peligrosos biológico-infecciosos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02152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1071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WOAH, Terrestrial Animal Health Code, glosario: woah.org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922776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31336"/>
            <a:ext cx="10607040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 Veterinary Manual: Developing a Biosecurity Program for Animals (orientado a animales de producción; adaptado a nivel de principios)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449572"/>
            <a:ext cx="10881360" cy="822960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449572"/>
            <a:ext cx="73152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5410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apoyo de Zoorigen: no sustituye el criterio profesional ni la asesoría legal. Consulta siempre la normatividad vigente y a tu asesor legal o médico veterinario responsable.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Zoorigen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Bioseguridad y limpieza en recintos de fauna</dc:title>
  <dc:subject>Bioseguridad y limpieza en recintos de fauna</dc:subject>
  <dc:creator>Zoorigen</dc:creator>
  <cp:lastModifiedBy>Zoorigen</cp:lastModifiedBy>
  <cp:revision>1</cp:revision>
  <dcterms:created xsi:type="dcterms:W3CDTF">2026-10-22T18:04:23Z</dcterms:created>
  <dcterms:modified xsi:type="dcterms:W3CDTF">2026-10-22T18:04:23Z</dcterms:modified>
</cp:coreProperties>
</file>