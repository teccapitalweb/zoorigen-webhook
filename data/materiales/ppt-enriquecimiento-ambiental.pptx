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objetivo: pasar de «ponerle juguetes» a un enriquecimiento planeado, seguro y evaluado.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temas. La presentación se complementa con la bitácora semanal de enriquecimiento (Excel) del Club.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presentarlo como una lista de objetos. Lo importante es la conducta que queremos favorecer y cómo sabremos si funcionó.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los cinco dominios sustituye la mirada de «solo evitar lo malo»: también valora experiencias 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Mellor (2016) señala que los estados afectivos positivos se favorecen con ambientes espaciosos, ricos en estímulos y seguros, con oportunidades de explorar y buscar alimento.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mismo objeto puede entrar en varios tipos. Lo importante es identificar para qué sirve.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Dedica tiempo al primer paso. Sin un objetivo conductual claro, no hay forma de evaluar.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al grupo que reescriba objetivos vagos («que estén contentos») como conductas que se puedan contar o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mencionan materiales específicos: lo seguro para una especie puede no serlo para otra. La decisión es del equipo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los mismos criterios en cada observación. La hoja de observación conductual del Club puede ayudarte.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que un animal puede ignorar un enriquecimiento hoy y usarlo mañana. Por eso se evalúa en varios momentos.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Evaluar no requiere estadística avanzada: requiere constancia y criterios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que son ejemplos para detonar ideas, no recetas.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Pide al grupo que identifique cuáles de estos errores se cometen hoy en su institución.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que el archivo trae filas de ejemplo que se borran antes de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decisiones sobre materiales, especies y salud las toma el equipo técnico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4" name="Image 0" descr="C:\TECCAPITAL\zoorigen-webhook\tools\materiales\generador-office\recursos\logo-zoori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2066544" cy="1060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514600"/>
            <a:ext cx="1097280" cy="6400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animal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Enriquecimiento ambiental: tipos, planeación y evaluación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C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práctica a la luz de los cinco dominios del bienestar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D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original de Zoorigen · Versión 1.0 · 22 de octubre de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0" y="0"/>
            <a:ext cx="91440" cy="6858000"/>
          </a:xfrm>
          <a:prstGeom prst="rect">
            <a:avLst/>
          </a:prstGeom>
          <a:solidFill>
            <a:srgbClr val="E8A3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veremos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 enriquecimiento ambiental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dominios del bienestar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tipos de enriquecimiento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7465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planearlo, paso a paso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17920" y="265176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26151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primero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17920" y="3520440"/>
            <a:ext cx="566928" cy="566928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34838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y evaluar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el enriquecimiento ambiental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planeados en el ambiente o en el manejo que dan oportunidades de realizar conductas propias de la especie.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planea con un objetivo, se aplica con seguridad y se evalúa.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decoración ni entretenimiento: busca que el animal tenga opciones y control sobre su entorno.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89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89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71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 a cada especie y, cuando se puede, a cada individuo.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general de uso común en el manejo de fauna; adapta la definición a tu institución.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cinco dominios del bienestar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956816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 y agua adecuados.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71216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1216" y="1783080"/>
            <a:ext cx="1956816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3099816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físico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99816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Espacio, clima y condiciones del recinto.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2352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1783080"/>
            <a:ext cx="1956816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330952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enfermedad o lesión y atención oportuna.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3488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1783080"/>
            <a:ext cx="1956816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conductuales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62088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ambiente, otros animales y las personas.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64624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64624" y="1783080"/>
            <a:ext cx="1956816" cy="109728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26" name="Text 24"/>
          <p:cNvSpPr/>
          <p:nvPr/>
        </p:nvSpPr>
        <p:spPr>
          <a:xfrm>
            <a:off x="9793224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mental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793224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siente el animal: resultado de los demás.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los Cinco Dominios (Mellor y colaboradores, 2020). Los dominios 1 a 4 aportan evidencia sobre el dominio 5.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entra el enriquecimiento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físico: estructuras, sustratos y espacios con variedad.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conductuales: oportunidades de explorar, buscar alimento y elegir.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mental: las experiencias positivas se favorecen con ambientes ricos en estímulos y seguros.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4089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89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71112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se basa en lo que se observa en el animal, no solo en lo que se ofrece.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tipos de enriquecimiento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1956816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Estructuras, sustratos, refugios y cambios en el espacio.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71216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1216" y="1783080"/>
            <a:ext cx="1956816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14" name="Text 12"/>
          <p:cNvSpPr/>
          <p:nvPr/>
        </p:nvSpPr>
        <p:spPr>
          <a:xfrm>
            <a:off x="3099816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99816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Olores, sonidos y estímulos visuales apropiados.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02352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02352" y="1783080"/>
            <a:ext cx="1956816" cy="1097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5330952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Alimentario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330952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distintas de presentar y buscar el alimento.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33488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33488" y="1783080"/>
            <a:ext cx="1956816" cy="109728"/>
          </a:xfrm>
          <a:prstGeom prst="rect">
            <a:avLst/>
          </a:prstGeom>
          <a:solidFill>
            <a:srgbClr val="1F5F8F"/>
          </a:solidFill>
          <a:ln/>
        </p:spPr>
      </p:sp>
      <p:sp>
        <p:nvSpPr>
          <p:cNvPr id="22" name="Text 20"/>
          <p:cNvSpPr/>
          <p:nvPr/>
        </p:nvSpPr>
        <p:spPr>
          <a:xfrm>
            <a:off x="7562088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62088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sencillos de resolver.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64624" y="1783080"/>
            <a:ext cx="1956816" cy="27432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64624" y="1783080"/>
            <a:ext cx="1956816" cy="109728"/>
          </a:xfrm>
          <a:prstGeom prst="rect">
            <a:avLst/>
          </a:prstGeom>
          <a:solidFill>
            <a:srgbClr val="2F7A4F"/>
          </a:solidFill>
          <a:ln/>
        </p:spPr>
      </p:sp>
      <p:sp>
        <p:nvSpPr>
          <p:cNvPr id="26" name="Text 24"/>
          <p:cNvSpPr/>
          <p:nvPr/>
        </p:nvSpPr>
        <p:spPr>
          <a:xfrm>
            <a:off x="9793224" y="203911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F5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793224" y="2606040"/>
            <a:ext cx="14996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con congéneres adecuados, cuando conviene a la especie.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uso común en el manejo de fauna; si tu institución usa otra, adáptala.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planearlo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conducta quiero favorecer?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81072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590800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29712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81072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0800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y comportamiento de la especie.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2064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4431792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70704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2064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1792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seguridad antes de aplicar.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11696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63056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a la vez.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4048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1F5F3A"/>
          </a:solidFill>
          <a:ln/>
        </p:spPr>
      </p:sp>
      <p:sp>
        <p:nvSpPr>
          <p:cNvPr id="29" name="Text 27"/>
          <p:cNvSpPr/>
          <p:nvPr/>
        </p:nvSpPr>
        <p:spPr>
          <a:xfrm>
            <a:off x="8113776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552688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04048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3776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lo que ocurre.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845040" y="1828800"/>
            <a:ext cx="1676400" cy="777240"/>
          </a:xfrm>
          <a:prstGeom prst="roundRect">
            <a:avLst>
              <a:gd name="adj" fmla="val 9412"/>
            </a:avLst>
          </a:prstGeom>
          <a:solidFill>
            <a:srgbClr val="2F7A4F"/>
          </a:solidFill>
          <a:ln/>
        </p:spPr>
      </p:sp>
      <p:sp>
        <p:nvSpPr>
          <p:cNvPr id="34" name="Text 32"/>
          <p:cNvSpPr/>
          <p:nvPr/>
        </p:nvSpPr>
        <p:spPr>
          <a:xfrm>
            <a:off x="9954768" y="18288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393680" y="1828800"/>
            <a:ext cx="103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845040" y="2697480"/>
            <a:ext cx="1676400" cy="210312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54768" y="2788920"/>
            <a:ext cx="14569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Mantener, modificar o retirar.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51206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" y="51937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repite: cada evaluación alimenta el siguiente plan.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un objetivo conductual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conductas propias de la especie: explorar, buscar alimento, usar distintos niveles del recinto.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57048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7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55219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Escríbelo como algo que se pueda observar.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22884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21056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una línea base: cómo se comporta el grupo antes de cambiar algo.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88721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6892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cómo y cuándo vas a observar.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objetivo observable: «Que los animales dediquen más tiempo a explorar el recinto».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primero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aplicar, revisa riesgos de lesión, atrapamiento, ingestión o contacto con materiales inadecuados.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51053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0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49224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materiales limpios y de uso exclusivo de cada recinto.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16890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68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15061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los cambios de forma gradual.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82727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27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0898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al médico veterinario o al equipo de bienestar ante cualquier duda.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48564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5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4673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parece peligroso o genera estrés evidente, retíralo y regístralo.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observar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observar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registrarlo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Acercamiento al enriquecimiento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o no, y cuánto tiempo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del espacio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Zonas del recinto que utiliza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actividad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Descanso, locomoción, exploración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Conductas propias de la especie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Cuáles aparecen y con qué frecuencia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Señales de alerta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Evitación, agitación o cambios inusuales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señales de alerta son generales; el significado de cada una depende de la especie y del individuo.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leer la respuesta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que invitan a mantenerlo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24328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sostenido y exploración.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136392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conductas propias de la especie.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648456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más el espacio del recinto.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109728" cy="109728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lesiones ni conflictos nuevos.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0000"/>
            </a:avLst>
          </a:prstGeom>
          <a:solidFill>
            <a:srgbClr val="C75402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para revisar o retirar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377440"/>
            <a:ext cx="5257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2624328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Evitación persistente.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3136392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3026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Agitación o conductas inusuales.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6520" y="3648456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5387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nuevos entre animales.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4160520"/>
            <a:ext cx="109728" cy="109728"/>
          </a:xfrm>
          <a:prstGeom prst="rect">
            <a:avLst/>
          </a:prstGeom>
          <a:solidFill>
            <a:srgbClr val="C75402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507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riesgo de lesión.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548640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5559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con cautela: una sola observación no basta.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Evaluar con método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antes y después con los mismos criterios.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las observaciones en distintos días y horarios.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posible, que observe la misma persona o que dos personas se pongan de acuerdo.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82727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27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0898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individuos y grupo por separado cuando se pueda.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48564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5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4673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mantener, modificar o retirar, y anótalo.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ilustrativas por grupo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772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 de ideas (adáptalas a tu especie)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Mamíferos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Esconder alimento, variar sustratos, reorganizar estructuras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Perchas de distintas formas, alimento a distintas alturas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Reptiles y anfibios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Refugios variados, cambios de microambiente seguros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Peces e invertebrados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Variedad de estructuras y escondites, cambios graduales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577840"/>
            <a:ext cx="10881360" cy="752094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5577840"/>
            <a:ext cx="73152" cy="752094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5650992"/>
            <a:ext cx="1042416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ilustrativos de Zoorigen a partir de los principios generales de los dominios: no sustituyen la guía de cada especie.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frecuentes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muchas cosas a la vez y no saber qué funcionó.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registrar lo que ocurre.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siempre lo mismo y esperar interés sostenido.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novedades sin revisar su seguridad.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432511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con una sola observación.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bitácora semanal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bitácora de enriquecimiento semanal (Excel) del Club.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2368296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68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fila: fecha, recinto, tipo, qué se hizo y respuesta observada.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hoja «Semana» muestra los días cubiertos por recinto.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" y="3685032"/>
            <a:ext cx="420624" cy="420624"/>
          </a:xfrm>
          <a:prstGeom prst="ellipse">
            <a:avLst/>
          </a:prstGeom>
          <a:solidFill>
            <a:srgbClr val="1F5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666744"/>
            <a:ext cx="10287000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recintos con pocos días cubiertos y planea la siguiente semana.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577840"/>
            <a:ext cx="73152" cy="566928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509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semanal de 15 minutos basta para ver patrones.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5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Zoorigen · Club VIP · Bienestar animal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607040" y="6419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62179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 y aviso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75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consultadas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Mellor DJ et al. (2020). The 2020 Five Domains Model. Animals 10(10):1870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60904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6946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Mellor DJ (2016). Updating animal welfare thinking: moving beyond the Five Freedoms. Animals 6(3):21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81528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99008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General de Vida Silvestre (arts. 3 y 29): trato digno y respetuoso; diputados.gob.mx/LeyesBiblio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502152"/>
            <a:ext cx="91440" cy="9144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107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tipos de enriquecimiento y señales de alerta: conocimiento general del campo (criterio editorial de Zoorigen)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68496"/>
            <a:ext cx="10881360" cy="822960"/>
          </a:xfrm>
          <a:prstGeom prst="rect">
            <a:avLst/>
          </a:prstGeom>
          <a:solidFill>
            <a:srgbClr val="FBF1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968496"/>
            <a:ext cx="73152" cy="822960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05993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apoyo de Zoorigen: no sustituye el criterio profesional ni la asesoría legal. Consulta siempre la normatividad vigente y a tu asesor legal o médico veterinario responsable.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Zoorigen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Enriquecimiento ambiental: tipos, planeación y evaluación</dc:title>
  <dc:subject>Enriquecimiento ambiental: tipos, planeación y evaluación</dc:subject>
  <dc:creator>Zoorigen</dc:creator>
  <cp:lastModifiedBy>Zoorigen</cp:lastModifiedBy>
  <cp:revision>1</cp:revision>
  <dcterms:created xsi:type="dcterms:W3CDTF">2026-10-22T18:04:23Z</dcterms:created>
  <dcterms:modified xsi:type="dcterms:W3CDTF">2026-10-22T18:04:23Z</dcterms:modified>
</cp:coreProperties>
</file>